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7600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3236108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08841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8159995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4860300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11/16/2025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08647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D94136C-8742-45B2-AF27-D93DF72833A9}" type="datetimeFigureOut">
              <a:rPr lang="en-US" smtClean="0"/>
              <a:t>11/16/2025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96446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2257610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72694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014067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5118044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8561785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5821554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3813901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7528906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3816209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624D31-43A5-475A-80CF-332C9F6DCF35}"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3982724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560554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98624D31-43A5-475A-80CF-332C9F6DCF35}" type="datetimeFigureOut">
              <a:rPr lang="en-US" smtClean="0"/>
              <a:t>11/16/2025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4167534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Lst>
  <p:hf sldNum="0"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40F46-CB6C-C895-F4F0-D80B48026527}"/>
              </a:ext>
            </a:extLst>
          </p:cNvPr>
          <p:cNvSpPr>
            <a:spLocks noGrp="1"/>
          </p:cNvSpPr>
          <p:nvPr>
            <p:ph type="ctrTitle"/>
          </p:nvPr>
        </p:nvSpPr>
        <p:spPr/>
        <p:txBody>
          <a:bodyPr>
            <a:normAutofit/>
          </a:bodyPr>
          <a:lstStyle/>
          <a:p>
            <a:r>
              <a:rPr lang="en-US" sz="4400" b="1" dirty="0">
                <a:latin typeface="Times New Roman" panose="02020603050405020304" pitchFamily="18" charset="0"/>
                <a:cs typeface="Times New Roman" panose="02020603050405020304" pitchFamily="18" charset="0"/>
              </a:rPr>
              <a:t>COFFEE SALES ANALYSIS REPORT</a:t>
            </a:r>
            <a:br>
              <a:rPr lang="en-US" dirty="0"/>
            </a:br>
            <a:endParaRPr lang="en-US" dirty="0"/>
          </a:p>
        </p:txBody>
      </p:sp>
      <p:sp>
        <p:nvSpPr>
          <p:cNvPr id="3" name="Subtitle 2">
            <a:extLst>
              <a:ext uri="{FF2B5EF4-FFF2-40B4-BE49-F238E27FC236}">
                <a16:creationId xmlns:a16="http://schemas.microsoft.com/office/drawing/2014/main" id="{5ABC92B2-93E4-8545-AABF-BFEEE147B34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666250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AFF26-DDD1-DA54-9337-23EA1BCB01DE}"/>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INTRODUCTION</a:t>
            </a:r>
            <a:br>
              <a:rPr lang="en-US" dirty="0"/>
            </a:br>
            <a:endParaRPr lang="en-US" dirty="0"/>
          </a:p>
        </p:txBody>
      </p:sp>
      <p:sp>
        <p:nvSpPr>
          <p:cNvPr id="3" name="Content Placeholder 2">
            <a:extLst>
              <a:ext uri="{FF2B5EF4-FFF2-40B4-BE49-F238E27FC236}">
                <a16:creationId xmlns:a16="http://schemas.microsoft.com/office/drawing/2014/main" id="{6F72C2AB-35E2-B6A7-1F83-0F43596782A7}"/>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This report presents an analysis of coffee sales data collected between 2019 and 2021. The dataset contains details on customer purchases, product types, roast preferences, and regional distribution. The purpose of the analysis is to uncover sales trends, identify top-performing products, and provide actionable insights that can guide strategic business decisions.</a:t>
            </a:r>
          </a:p>
          <a:p>
            <a:endParaRPr lang="en-US" sz="2400" dirty="0"/>
          </a:p>
        </p:txBody>
      </p:sp>
    </p:spTree>
    <p:extLst>
      <p:ext uri="{BB962C8B-B14F-4D97-AF65-F5344CB8AC3E}">
        <p14:creationId xmlns:p14="http://schemas.microsoft.com/office/powerpoint/2010/main" val="2140716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6D611-89DA-4802-288E-0BF7BDD74786}"/>
              </a:ext>
            </a:extLst>
          </p:cNvPr>
          <p:cNvSpPr>
            <a:spLocks noGrp="1"/>
          </p:cNvSpPr>
          <p:nvPr>
            <p:ph type="title"/>
          </p:nvPr>
        </p:nvSpPr>
        <p:spPr>
          <a:xfrm>
            <a:off x="1097280" y="514350"/>
            <a:ext cx="10058400" cy="1485900"/>
          </a:xfrm>
        </p:spPr>
        <p:txBody>
          <a:bodyPr/>
          <a:lstStyle/>
          <a:p>
            <a:pPr algn="ctr"/>
            <a:r>
              <a:rPr lang="en-US" b="1" dirty="0">
                <a:latin typeface="Times New Roman" panose="02020603050405020304" pitchFamily="18" charset="0"/>
                <a:cs typeface="Times New Roman" panose="02020603050405020304" pitchFamily="18" charset="0"/>
              </a:rPr>
              <a:t>DATA DESCRIPTION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0B929A1-C55F-8C48-2062-0AD8718A671B}"/>
              </a:ext>
            </a:extLst>
          </p:cNvPr>
          <p:cNvSpPr>
            <a:spLocks noGrp="1"/>
          </p:cNvSpPr>
          <p:nvPr>
            <p:ph idx="1"/>
          </p:nvPr>
        </p:nvSpPr>
        <p:spPr/>
        <p:txBody>
          <a:bodyPr/>
          <a:lstStyle/>
          <a:p>
            <a:pPr lvl="0"/>
            <a:r>
              <a:rPr lang="en-US" dirty="0"/>
              <a:t>Source: Coffee sales dataset with 1,000 transaction records. </a:t>
            </a:r>
          </a:p>
          <a:p>
            <a:pPr lvl="0"/>
            <a:r>
              <a:rPr lang="en-US" dirty="0"/>
              <a:t>Period Covered: 2019 – </a:t>
            </a:r>
            <a:r>
              <a:rPr lang="en-US" sz="2400" dirty="0">
                <a:latin typeface="Times New Roman" panose="02020603050405020304" pitchFamily="18" charset="0"/>
                <a:cs typeface="Times New Roman" panose="02020603050405020304" pitchFamily="18" charset="0"/>
              </a:rPr>
              <a:t>2021</a:t>
            </a:r>
            <a:r>
              <a:rPr lang="en-US" dirty="0"/>
              <a:t>. </a:t>
            </a:r>
          </a:p>
          <a:p>
            <a:pPr lvl="0"/>
            <a:r>
              <a:rPr lang="en-US" dirty="0"/>
              <a:t>Variables: Includes order ID, customer details, product type, roast type, coffee size, price, profit, and country. </a:t>
            </a:r>
          </a:p>
          <a:p>
            <a:pPr lvl="0"/>
            <a:r>
              <a:rPr lang="en-US" dirty="0"/>
              <a:t> Cleaning: Duplicates and inconsistencies were removed. The dataset was then structured for pivot table analysis and visualization.</a:t>
            </a:r>
          </a:p>
          <a:p>
            <a:endParaRPr lang="en-US" dirty="0"/>
          </a:p>
        </p:txBody>
      </p:sp>
    </p:spTree>
    <p:extLst>
      <p:ext uri="{BB962C8B-B14F-4D97-AF65-F5344CB8AC3E}">
        <p14:creationId xmlns:p14="http://schemas.microsoft.com/office/powerpoint/2010/main" val="2302839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DE2E6-7341-8CCB-6DC0-7665A851DAE2}"/>
              </a:ext>
            </a:extLst>
          </p:cNvPr>
          <p:cNvSpPr>
            <a:spLocks noGrp="1"/>
          </p:cNvSpPr>
          <p:nvPr>
            <p:ph type="title"/>
          </p:nvPr>
        </p:nvSpPr>
        <p:spPr>
          <a:xfrm>
            <a:off x="913775" y="285750"/>
            <a:ext cx="10364451" cy="1071564"/>
          </a:xfrm>
        </p:spPr>
        <p:txBody>
          <a:bodyPr>
            <a:noAutofit/>
          </a:bodyPr>
          <a:lstStyle/>
          <a:p>
            <a:r>
              <a:rPr lang="en-US" b="1" dirty="0">
                <a:latin typeface="Times New Roman" panose="02020603050405020304" pitchFamily="18" charset="0"/>
                <a:cs typeface="Times New Roman" panose="02020603050405020304" pitchFamily="18" charset="0"/>
              </a:rPr>
              <a:t>Objectives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A6B3F0-A6E0-6F63-AFB1-3BD0DD28B475}"/>
              </a:ext>
            </a:extLst>
          </p:cNvPr>
          <p:cNvSpPr>
            <a:spLocks noGrp="1"/>
          </p:cNvSpPr>
          <p:nvPr>
            <p:ph idx="1"/>
          </p:nvPr>
        </p:nvSpPr>
        <p:spPr>
          <a:xfrm>
            <a:off x="913774" y="2024193"/>
            <a:ext cx="10364452" cy="3424107"/>
          </a:xfrm>
        </p:spPr>
        <p:txBody>
          <a:bodyPr>
            <a:normAutofit lnSpcReduction="10000"/>
          </a:bodyPr>
          <a:lstStyle/>
          <a:p>
            <a:pPr lvl="0"/>
            <a:r>
              <a:rPr lang="en-US" sz="2400" dirty="0">
                <a:latin typeface="Times New Roman" panose="02020603050405020304" pitchFamily="18" charset="0"/>
                <a:cs typeface="Times New Roman" panose="02020603050405020304" pitchFamily="18" charset="0"/>
              </a:rPr>
              <a:t>To evaluate overall sales performance across different countries. </a:t>
            </a:r>
          </a:p>
          <a:p>
            <a:pPr lvl="0"/>
            <a:r>
              <a:rPr lang="en-US" sz="2400" dirty="0">
                <a:latin typeface="Times New Roman" panose="02020603050405020304" pitchFamily="18" charset="0"/>
                <a:cs typeface="Times New Roman" panose="02020603050405020304" pitchFamily="18" charset="0"/>
              </a:rPr>
              <a:t>To identify the most popular coffee types and roast preferences. </a:t>
            </a:r>
          </a:p>
          <a:p>
            <a:pPr lvl="0"/>
            <a:r>
              <a:rPr lang="en-US" sz="2400" dirty="0">
                <a:latin typeface="Times New Roman" panose="02020603050405020304" pitchFamily="18" charset="0"/>
                <a:cs typeface="Times New Roman" panose="02020603050405020304" pitchFamily="18" charset="0"/>
              </a:rPr>
              <a:t> To examine customer purchasing behavior, including loyalty card usage. </a:t>
            </a:r>
          </a:p>
          <a:p>
            <a:pPr lvl="0"/>
            <a:r>
              <a:rPr lang="en-US" sz="2400" dirty="0">
                <a:latin typeface="Times New Roman" panose="02020603050405020304" pitchFamily="18" charset="0"/>
                <a:cs typeface="Times New Roman" panose="02020603050405020304" pitchFamily="18" charset="0"/>
              </a:rPr>
              <a:t> To track sales trends over time.</a:t>
            </a:r>
          </a:p>
          <a:p>
            <a:endParaRPr lang="en-US" dirty="0"/>
          </a:p>
        </p:txBody>
      </p:sp>
    </p:spTree>
    <p:extLst>
      <p:ext uri="{BB962C8B-B14F-4D97-AF65-F5344CB8AC3E}">
        <p14:creationId xmlns:p14="http://schemas.microsoft.com/office/powerpoint/2010/main" val="3251371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64971-6FE1-55C9-8EF7-B265FD2307CC}"/>
              </a:ext>
            </a:extLst>
          </p:cNvPr>
          <p:cNvSpPr>
            <a:spLocks noGrp="1"/>
          </p:cNvSpPr>
          <p:nvPr>
            <p:ph type="title"/>
          </p:nvPr>
        </p:nvSpPr>
        <p:spPr>
          <a:xfrm>
            <a:off x="913775" y="385763"/>
            <a:ext cx="10364451" cy="1328737"/>
          </a:xfrm>
        </p:spPr>
        <p:txBody>
          <a:bodyPr/>
          <a:lstStyle/>
          <a:p>
            <a:r>
              <a:rPr lang="en-US" b="1" dirty="0">
                <a:latin typeface="Times New Roman" panose="02020603050405020304" pitchFamily="18" charset="0"/>
                <a:cs typeface="Times New Roman" panose="02020603050405020304" pitchFamily="18" charset="0"/>
              </a:rPr>
              <a:t>Results</a:t>
            </a:r>
            <a:br>
              <a:rPr lang="en-US" dirty="0"/>
            </a:br>
            <a:endParaRPr lang="en-US" dirty="0"/>
          </a:p>
        </p:txBody>
      </p:sp>
      <p:sp>
        <p:nvSpPr>
          <p:cNvPr id="3" name="Content Placeholder 2">
            <a:extLst>
              <a:ext uri="{FF2B5EF4-FFF2-40B4-BE49-F238E27FC236}">
                <a16:creationId xmlns:a16="http://schemas.microsoft.com/office/drawing/2014/main" id="{F1EAFF7F-A66D-02AC-9276-B139FA9B8B9C}"/>
              </a:ext>
            </a:extLst>
          </p:cNvPr>
          <p:cNvSpPr>
            <a:spLocks noGrp="1"/>
          </p:cNvSpPr>
          <p:nvPr>
            <p:ph idx="1"/>
          </p:nvPr>
        </p:nvSpPr>
        <p:spPr>
          <a:xfrm>
            <a:off x="913775" y="1609856"/>
            <a:ext cx="10364452" cy="2962145"/>
          </a:xfrm>
        </p:spPr>
        <p:txBody>
          <a:bodyPr>
            <a:normAutofit/>
          </a:bodyPr>
          <a:lstStyle/>
          <a:p>
            <a:pPr lvl="0"/>
            <a:r>
              <a:rPr lang="en-US" sz="2400" dirty="0">
                <a:latin typeface="Times New Roman" panose="02020603050405020304" pitchFamily="18" charset="0"/>
                <a:cs typeface="Times New Roman" panose="02020603050405020304" pitchFamily="18" charset="0"/>
              </a:rPr>
              <a:t>The café’s total order and total number of customer’s is 1,000.</a:t>
            </a:r>
          </a:p>
          <a:p>
            <a:pPr lvl="0"/>
            <a:r>
              <a:rPr lang="en-US" sz="2400" dirty="0">
                <a:latin typeface="Times New Roman" panose="02020603050405020304" pitchFamily="18" charset="0"/>
                <a:cs typeface="Times New Roman" panose="02020603050405020304" pitchFamily="18" charset="0"/>
              </a:rPr>
              <a:t>The total sales made by the café from 2019 to 2021 is $45,100.</a:t>
            </a:r>
          </a:p>
          <a:p>
            <a:pPr lvl="0"/>
            <a:r>
              <a:rPr lang="en-US" sz="2400" dirty="0">
                <a:latin typeface="Times New Roman" panose="02020603050405020304" pitchFamily="18" charset="0"/>
                <a:cs typeface="Times New Roman" panose="02020603050405020304" pitchFamily="18" charset="0"/>
              </a:rPr>
              <a:t>The total profit made by the cafe from 2019 to 2021 is $1,300.</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9527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B4CF-A074-7006-6DF3-EEE6CF32142A}"/>
              </a:ext>
            </a:extLst>
          </p:cNvPr>
          <p:cNvSpPr>
            <a:spLocks noGrp="1"/>
          </p:cNvSpPr>
          <p:nvPr>
            <p:ph type="title"/>
          </p:nvPr>
        </p:nvSpPr>
        <p:spPr>
          <a:xfrm>
            <a:off x="913773" y="352424"/>
            <a:ext cx="10364451" cy="1596177"/>
          </a:xfrm>
        </p:spPr>
        <p:txBody>
          <a:bodyPr/>
          <a:lstStyle/>
          <a:p>
            <a:r>
              <a:rPr lang="en-US"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64D446FD-9D4B-4785-C7AD-B7C74180A338}"/>
              </a:ext>
            </a:extLst>
          </p:cNvPr>
          <p:cNvSpPr>
            <a:spLocks noGrp="1"/>
          </p:cNvSpPr>
          <p:nvPr>
            <p:ph idx="1"/>
          </p:nvPr>
        </p:nvSpPr>
        <p:spPr>
          <a:xfrm>
            <a:off x="913773" y="1948601"/>
            <a:ext cx="10364452" cy="4290882"/>
          </a:xfrm>
        </p:spPr>
        <p:txBody>
          <a:bodyPr>
            <a:normAutofit/>
          </a:bodyPr>
          <a:lstStyle/>
          <a:p>
            <a:r>
              <a:rPr lang="en-US" sz="2400" dirty="0">
                <a:latin typeface="Times New Roman" panose="02020603050405020304" pitchFamily="18" charset="0"/>
                <a:cs typeface="Times New Roman" panose="02020603050405020304" pitchFamily="18" charset="0"/>
              </a:rPr>
              <a:t>The country that generates the highest revenue is the United States, which generates 79% of the café’s revenue.</a:t>
            </a: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5B0B6DD-C61E-16EE-C290-4BE0937EB791}"/>
              </a:ext>
            </a:extLst>
          </p:cNvPr>
          <p:cNvPicPr>
            <a:picLocks noChangeAspect="1"/>
          </p:cNvPicPr>
          <p:nvPr/>
        </p:nvPicPr>
        <p:blipFill>
          <a:blip r:embed="rId2"/>
          <a:stretch>
            <a:fillRect/>
          </a:stretch>
        </p:blipFill>
        <p:spPr>
          <a:xfrm>
            <a:off x="1880519" y="3314398"/>
            <a:ext cx="8194060" cy="3495976"/>
          </a:xfrm>
          <a:prstGeom prst="rect">
            <a:avLst/>
          </a:prstGeom>
        </p:spPr>
      </p:pic>
    </p:spTree>
    <p:extLst>
      <p:ext uri="{BB962C8B-B14F-4D97-AF65-F5344CB8AC3E}">
        <p14:creationId xmlns:p14="http://schemas.microsoft.com/office/powerpoint/2010/main" val="1729676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8E4CA-7917-A6F8-5BB0-C04EF5315704}"/>
              </a:ext>
            </a:extLst>
          </p:cNvPr>
          <p:cNvSpPr>
            <a:spLocks noGrp="1"/>
          </p:cNvSpPr>
          <p:nvPr>
            <p:ph type="title"/>
          </p:nvPr>
        </p:nvSpPr>
        <p:spPr>
          <a:xfrm>
            <a:off x="865814" y="404205"/>
            <a:ext cx="10364451" cy="1596177"/>
          </a:xfrm>
        </p:spPr>
        <p:txBody>
          <a:bodyPr/>
          <a:lstStyle/>
          <a:p>
            <a:r>
              <a:rPr lang="en-US"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9CBA4178-6185-A21C-04F2-F8AE9F1862EA}"/>
              </a:ext>
            </a:extLst>
          </p:cNvPr>
          <p:cNvSpPr>
            <a:spLocks noGrp="1"/>
          </p:cNvSpPr>
          <p:nvPr>
            <p:ph idx="1"/>
          </p:nvPr>
        </p:nvSpPr>
        <p:spPr>
          <a:xfrm>
            <a:off x="913773" y="1716946"/>
            <a:ext cx="10364452" cy="3424107"/>
          </a:xfrm>
        </p:spPr>
        <p:txBody>
          <a:bodyPr>
            <a:normAutofit/>
          </a:bodyPr>
          <a:lstStyle/>
          <a:p>
            <a:r>
              <a:rPr lang="en-US" sz="2400" dirty="0">
                <a:latin typeface="Times New Roman" panose="02020603050405020304" pitchFamily="18" charset="0"/>
                <a:cs typeface="Times New Roman" panose="02020603050405020304" pitchFamily="18" charset="0"/>
              </a:rPr>
              <a:t>Top Coffee Types: Arabica, Liberia, and Excelsa emerge as the most purchased coffee types, showing strong consumer preference.</a:t>
            </a: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D9E4AA7-6FD9-E6B3-0FAF-3CF7CA83C4BD}"/>
              </a:ext>
            </a:extLst>
          </p:cNvPr>
          <p:cNvPicPr>
            <a:picLocks noChangeAspect="1"/>
          </p:cNvPicPr>
          <p:nvPr/>
        </p:nvPicPr>
        <p:blipFill>
          <a:blip r:embed="rId2"/>
          <a:stretch>
            <a:fillRect/>
          </a:stretch>
        </p:blipFill>
        <p:spPr>
          <a:xfrm>
            <a:off x="1804321" y="3279720"/>
            <a:ext cx="7696867" cy="3437884"/>
          </a:xfrm>
          <a:prstGeom prst="rect">
            <a:avLst/>
          </a:prstGeom>
        </p:spPr>
      </p:pic>
    </p:spTree>
    <p:extLst>
      <p:ext uri="{BB962C8B-B14F-4D97-AF65-F5344CB8AC3E}">
        <p14:creationId xmlns:p14="http://schemas.microsoft.com/office/powerpoint/2010/main" val="4270517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3668-BCF3-820F-F5C0-45DDAE76334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648925DF-F03D-244F-82B8-828B28A614FC}"/>
              </a:ext>
            </a:extLst>
          </p:cNvPr>
          <p:cNvSpPr>
            <a:spLocks noGrp="1"/>
          </p:cNvSpPr>
          <p:nvPr>
            <p:ph idx="1"/>
          </p:nvPr>
        </p:nvSpPr>
        <p:spPr>
          <a:xfrm>
            <a:off x="913775" y="1969059"/>
            <a:ext cx="10364452" cy="3424107"/>
          </a:xfrm>
        </p:spPr>
        <p:txBody>
          <a:bodyPr>
            <a:normAutofit/>
          </a:bodyPr>
          <a:lstStyle/>
          <a:p>
            <a:r>
              <a:rPr lang="en-US" sz="2400" dirty="0">
                <a:latin typeface="Times New Roman" panose="02020603050405020304" pitchFamily="18" charset="0"/>
                <a:cs typeface="Times New Roman" panose="02020603050405020304" pitchFamily="18" charset="0"/>
              </a:rPr>
              <a:t>Sales Trends Over YEARS: Sales show steady growth, with peak OBSERVED IN THE YEAR 2021. </a:t>
            </a:r>
          </a:p>
          <a:p>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5E1AFBC-0608-4F5C-D34F-61434F4732A5}"/>
              </a:ext>
            </a:extLst>
          </p:cNvPr>
          <p:cNvPicPr>
            <a:picLocks noChangeAspect="1"/>
          </p:cNvPicPr>
          <p:nvPr/>
        </p:nvPicPr>
        <p:blipFill>
          <a:blip r:embed="rId2"/>
          <a:stretch>
            <a:fillRect/>
          </a:stretch>
        </p:blipFill>
        <p:spPr>
          <a:xfrm>
            <a:off x="2290097" y="3186113"/>
            <a:ext cx="7296815" cy="3290864"/>
          </a:xfrm>
          <a:prstGeom prst="rect">
            <a:avLst/>
          </a:prstGeom>
        </p:spPr>
      </p:pic>
    </p:spTree>
    <p:extLst>
      <p:ext uri="{BB962C8B-B14F-4D97-AF65-F5344CB8AC3E}">
        <p14:creationId xmlns:p14="http://schemas.microsoft.com/office/powerpoint/2010/main" val="43329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D32D3-9CF0-54BE-1799-20063DCF831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BF7898D1-2E40-E37F-814B-59E7AAF71BE3}"/>
              </a:ext>
            </a:extLst>
          </p:cNvPr>
          <p:cNvSpPr>
            <a:spLocks noGrp="1"/>
          </p:cNvSpPr>
          <p:nvPr>
            <p:ph idx="1"/>
          </p:nvPr>
        </p:nvSpPr>
        <p:spPr>
          <a:xfrm>
            <a:off x="913774" y="1838456"/>
            <a:ext cx="10364452" cy="3424107"/>
          </a:xfrm>
        </p:spPr>
        <p:txBody>
          <a:bodyPr>
            <a:normAutofit/>
          </a:bodyPr>
          <a:lstStyle/>
          <a:p>
            <a:r>
              <a:rPr lang="en-US" dirty="0"/>
              <a:t>Roast Preferences: Medium and large roasts are the most popular choices among customers, suggesting a trend toward stronger flavors.</a:t>
            </a: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651FD73-351C-D1FE-F18C-021BBFB13D0A}"/>
              </a:ext>
            </a:extLst>
          </p:cNvPr>
          <p:cNvPicPr>
            <a:picLocks noChangeAspect="1"/>
          </p:cNvPicPr>
          <p:nvPr/>
        </p:nvPicPr>
        <p:blipFill>
          <a:blip r:embed="rId2"/>
          <a:stretch>
            <a:fillRect/>
          </a:stretch>
        </p:blipFill>
        <p:spPr>
          <a:xfrm>
            <a:off x="1609061" y="3129221"/>
            <a:ext cx="8277889" cy="3728779"/>
          </a:xfrm>
          <a:prstGeom prst="rect">
            <a:avLst/>
          </a:prstGeom>
        </p:spPr>
      </p:pic>
    </p:spTree>
    <p:extLst>
      <p:ext uri="{BB962C8B-B14F-4D97-AF65-F5344CB8AC3E}">
        <p14:creationId xmlns:p14="http://schemas.microsoft.com/office/powerpoint/2010/main" val="333678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51559-923E-C074-874A-20C543FF5A1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BBBE0C46-DA05-AC20-66CF-07CA686DC1D8}"/>
              </a:ext>
            </a:extLst>
          </p:cNvPr>
          <p:cNvSpPr>
            <a:spLocks noGrp="1"/>
          </p:cNvSpPr>
          <p:nvPr>
            <p:ph idx="1"/>
          </p:nvPr>
        </p:nvSpPr>
        <p:spPr>
          <a:xfrm>
            <a:off x="913775" y="1911321"/>
            <a:ext cx="10364452" cy="3576506"/>
          </a:xfrm>
        </p:spPr>
        <p:txBody>
          <a:bodyPr>
            <a:normAutofit/>
          </a:bodyPr>
          <a:lstStyle/>
          <a:p>
            <a:pPr lvl="0"/>
            <a:r>
              <a:rPr lang="en-US" sz="2400" dirty="0">
                <a:latin typeface="Times New Roman" panose="02020603050405020304" pitchFamily="18" charset="0"/>
                <a:cs typeface="Times New Roman" panose="02020603050405020304" pitchFamily="18" charset="0"/>
              </a:rPr>
              <a:t>Customer Segmentation: Customers with loyalty cards contribute significantly to repeat purchases, particularly in the U.S. market.</a:t>
            </a:r>
          </a:p>
          <a:p>
            <a:pPr marL="0" indent="0">
              <a:buNone/>
            </a:pPr>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6C1888C-1635-BA8E-F9FD-C361CEB19BC6}"/>
              </a:ext>
            </a:extLst>
          </p:cNvPr>
          <p:cNvPicPr>
            <a:picLocks noChangeAspect="1"/>
          </p:cNvPicPr>
          <p:nvPr/>
        </p:nvPicPr>
        <p:blipFill>
          <a:blip r:embed="rId2"/>
          <a:stretch>
            <a:fillRect/>
          </a:stretch>
        </p:blipFill>
        <p:spPr>
          <a:xfrm>
            <a:off x="1856712" y="3211320"/>
            <a:ext cx="7915938" cy="3569311"/>
          </a:xfrm>
          <a:prstGeom prst="rect">
            <a:avLst/>
          </a:prstGeom>
        </p:spPr>
      </p:pic>
    </p:spTree>
    <p:extLst>
      <p:ext uri="{BB962C8B-B14F-4D97-AF65-F5344CB8AC3E}">
        <p14:creationId xmlns:p14="http://schemas.microsoft.com/office/powerpoint/2010/main" val="264857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264D5-D5DF-0D6F-C98F-BEC590F9D8D1}"/>
              </a:ext>
            </a:extLst>
          </p:cNvPr>
          <p:cNvSpPr>
            <a:spLocks noGrp="1"/>
          </p:cNvSpPr>
          <p:nvPr>
            <p:ph type="title"/>
          </p:nvPr>
        </p:nvSpPr>
        <p:spPr>
          <a:xfrm>
            <a:off x="913775" y="618518"/>
            <a:ext cx="10364451" cy="1081696"/>
          </a:xfrm>
        </p:spPr>
        <p:txBody>
          <a:bodyPr/>
          <a:lstStyle/>
          <a:p>
            <a:r>
              <a:rPr lang="en-US" b="1" dirty="0">
                <a:latin typeface="Times New Roman" panose="02020603050405020304" pitchFamily="18" charset="0"/>
                <a:cs typeface="Times New Roman" panose="02020603050405020304" pitchFamily="18" charset="0"/>
              </a:rPr>
              <a:t>Observation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E37C91-393A-F02A-8DD8-2B7F70F3FA46}"/>
              </a:ext>
            </a:extLst>
          </p:cNvPr>
          <p:cNvSpPr>
            <a:spLocks noGrp="1"/>
          </p:cNvSpPr>
          <p:nvPr>
            <p:ph idx="1"/>
          </p:nvPr>
        </p:nvSpPr>
        <p:spPr>
          <a:xfrm>
            <a:off x="913773" y="1700214"/>
            <a:ext cx="10364452" cy="3424107"/>
          </a:xfrm>
        </p:spPr>
        <p:txBody>
          <a:bodyPr>
            <a:noAutofit/>
          </a:bodyPr>
          <a:lstStyle/>
          <a:p>
            <a:r>
              <a:rPr lang="en-US" sz="2400" dirty="0">
                <a:latin typeface="Times New Roman" panose="02020603050405020304" pitchFamily="18" charset="0"/>
                <a:cs typeface="Times New Roman" panose="02020603050405020304" pitchFamily="18" charset="0"/>
              </a:rPr>
              <a:t>The dominance of U.S. sales highlights the importance of focusing marketing and distribution strategies in this region. The preference for Arabica and medium roasts indicates that customers lean toward familiar, versatile coffee flavors. Seasonal sales peaks suggest opportunities for targeted promotions during holidays and mid-year events.</a:t>
            </a:r>
          </a:p>
          <a:p>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9731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05B51-DF52-44CE-A302-D3C6935462B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Recommendations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5DF253-2DB9-0E6F-BF65-B8D2481FCF07}"/>
              </a:ext>
            </a:extLst>
          </p:cNvPr>
          <p:cNvSpPr>
            <a:spLocks noGrp="1"/>
          </p:cNvSpPr>
          <p:nvPr>
            <p:ph idx="1"/>
          </p:nvPr>
        </p:nvSpPr>
        <p:spPr/>
        <p:txBody>
          <a:bodyPr>
            <a:noAutofit/>
          </a:bodyPr>
          <a:lstStyle/>
          <a:p>
            <a:pPr lvl="0"/>
            <a:r>
              <a:rPr lang="en-US" sz="2400" dirty="0">
                <a:latin typeface="Times New Roman" panose="02020603050405020304" pitchFamily="18" charset="0"/>
                <a:cs typeface="Times New Roman" panose="02020603050405020304" pitchFamily="18" charset="0"/>
              </a:rPr>
              <a:t>Focus marketing and distribution efforts on the U.S. market.</a:t>
            </a:r>
          </a:p>
          <a:p>
            <a:pPr lvl="0"/>
            <a:r>
              <a:rPr lang="en-US" sz="2400" dirty="0">
                <a:latin typeface="Times New Roman" panose="02020603050405020304" pitchFamily="18" charset="0"/>
                <a:cs typeface="Times New Roman" panose="02020603050405020304" pitchFamily="18" charset="0"/>
              </a:rPr>
              <a:t>Expand product lines for Arabica and medium roasts.</a:t>
            </a:r>
          </a:p>
          <a:p>
            <a:pPr lvl="0"/>
            <a:r>
              <a:rPr lang="en-US" sz="2400" dirty="0">
                <a:latin typeface="Times New Roman" panose="02020603050405020304" pitchFamily="18" charset="0"/>
                <a:cs typeface="Times New Roman" panose="02020603050405020304" pitchFamily="18" charset="0"/>
              </a:rPr>
              <a:t>Strengthen loyalty programs internationally to boost retention.</a:t>
            </a:r>
          </a:p>
          <a:p>
            <a:pPr lvl="0"/>
            <a:r>
              <a:rPr lang="en-US" sz="2400" dirty="0">
                <a:latin typeface="Times New Roman" panose="02020603050405020304" pitchFamily="18" charset="0"/>
                <a:cs typeface="Times New Roman" panose="02020603050405020304" pitchFamily="18" charset="0"/>
              </a:rPr>
              <a:t>Launch seasonal campaigns during mid-year and festive periods.</a:t>
            </a:r>
          </a:p>
          <a:p>
            <a:pPr marL="0" indent="0">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438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87E4E-51C0-A919-01F1-69BE926E36C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DF2E5D-DB27-7EE9-1B24-BE895B0FCD7C}"/>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The business has a strong foundation in the U.S. market with clear product preferences. Targeted promotions and expanded offerings can further drive growth and customer loyalty.</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119154"/>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30</TotalTime>
  <Words>460</Words>
  <Application>Microsoft Office PowerPoint</Application>
  <PresentationFormat>Widescreen</PresentationFormat>
  <Paragraphs>38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Times New Roman</vt:lpstr>
      <vt:lpstr>Tw Cen MT</vt:lpstr>
      <vt:lpstr>Droplet</vt:lpstr>
      <vt:lpstr>COFFEE SALES ANALYSIS REPORT </vt:lpstr>
      <vt:lpstr>INTRODUCTION </vt:lpstr>
      <vt:lpstr>DATA DESCRIPTION </vt:lpstr>
      <vt:lpstr>Objectives </vt:lpstr>
      <vt:lpstr>Results </vt:lpstr>
      <vt:lpstr>RESULTS</vt:lpstr>
      <vt:lpstr>RESULTS</vt:lpstr>
      <vt:lpstr>RESULTS</vt:lpstr>
      <vt:lpstr>RESULTS</vt:lpstr>
      <vt:lpstr>RESULTS</vt:lpstr>
      <vt:lpstr>Observation  </vt:lpstr>
      <vt:lpstr>Recommendations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cp:revision>
  <dcterms:created xsi:type="dcterms:W3CDTF">2025-11-16T14:38:44Z</dcterms:created>
  <dcterms:modified xsi:type="dcterms:W3CDTF">2025-11-16T15:09:41Z</dcterms:modified>
</cp:coreProperties>
</file>